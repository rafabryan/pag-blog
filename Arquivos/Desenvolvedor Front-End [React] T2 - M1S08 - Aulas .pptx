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Lexend Light"/>
      <p:regular r:id="rId33"/>
      <p:bold r:id="rId34"/>
    </p:embeddedFont>
    <p:embeddedFont>
      <p:font typeface="Lexend"/>
      <p:regular r:id="rId35"/>
      <p:bold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LexendLight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Lexend-regular.fntdata"/><Relationship Id="rId12" Type="http://schemas.openxmlformats.org/officeDocument/2006/relationships/slide" Target="slides/slide7.xml"/><Relationship Id="rId34" Type="http://schemas.openxmlformats.org/officeDocument/2006/relationships/font" Target="fonts/LexendLight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Lexend-bold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ff4846b3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cff4846b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ff4846b3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ff4846b3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ff4846b3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ff4846b3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ed37c25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ed37c25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ed37c25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ed37c25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ed37c25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ed37c25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5ed37c25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5ed37c25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5ed37c25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5ed37c25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ed37c25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5ed37c25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f4846b3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f4846b3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5ed37c25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5ed37c25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ff4846b3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ff4846b3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5ed37c2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5ed37c2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ed37c25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5ed37c25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5ed37c25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5ed37c25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ed37c25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ed37c25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5ed37c2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5ed37c2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5ed37c25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5ed37c25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5ed37c25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5ed37c2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5ed37c2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5ed37c2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5ed37c25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5ed37c25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5ed37c25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5ed37c25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ff4846b3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ff4846b3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ção">
  <p:cSld name="CUSTOM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 title="Screenshot 2026-03-13 at 17.47.5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72750" y="2494075"/>
            <a:ext cx="5398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600"/>
              <a:buFont typeface="Roboto"/>
              <a:buNone/>
              <a:defRPr sz="16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Claro)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Escuro)">
  <p:cSld name="CUSTOM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title="Screenshot 2026-03-13 at 17.49.4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alização, Execução e Apoio">
  <p:cSld name="CUSTOM_4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 title="Screenshot 2026-03-13 at 17.50.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valo de Aula">
  <p:cSld name="CUSTOM_5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/>
        </p:nvSpPr>
        <p:spPr>
          <a:xfrm>
            <a:off x="971888" y="951750"/>
            <a:ext cx="3240000" cy="3240000"/>
          </a:xfrm>
          <a:prstGeom prst="rect">
            <a:avLst/>
          </a:prstGeom>
          <a:noFill/>
          <a:ln cap="flat" cmpd="sng" w="28575">
            <a:solidFill>
              <a:srgbClr val="78C0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0" lIns="90000" spcFirstLastPara="1" rIns="90000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INTERVALO!</a:t>
            </a:r>
            <a:br>
              <a:rPr lang="pt-BR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pt-BR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Finalizamos o nosso primeiro período de hoje. Que tal descansar um pouco?!</a:t>
            </a: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Nos vemos em 15 minutos.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Início:		</a:t>
            </a:r>
            <a:br>
              <a:rPr b="1" lang="pt-BR">
                <a:latin typeface="Roboto"/>
                <a:ea typeface="Roboto"/>
                <a:cs typeface="Roboto"/>
                <a:sym typeface="Roboto"/>
              </a:rPr>
            </a:br>
            <a:r>
              <a:rPr b="1" lang="pt-BR">
                <a:latin typeface="Roboto"/>
                <a:ea typeface="Roboto"/>
                <a:cs typeface="Roboto"/>
                <a:sym typeface="Roboto"/>
              </a:rPr>
              <a:t>Retorno: 	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	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063" y="951750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visos">
  <p:cSld name="CUSTOM_5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8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/>
          <p:nvPr/>
        </p:nvSpPr>
        <p:spPr>
          <a:xfrm>
            <a:off x="48852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587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#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872750" y="2494075"/>
            <a:ext cx="53985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PÁGINAS</a:t>
            </a:r>
            <a:r>
              <a:rPr lang="pt-BR"/>
              <a:t> </a:t>
            </a:r>
            <a:r>
              <a:rPr lang="pt-BR"/>
              <a:t>DINÂMICAS</a:t>
            </a:r>
            <a:r>
              <a:rPr lang="pt-BR"/>
              <a:t> E INTERATIVAS</a:t>
            </a:r>
            <a:endParaRPr/>
          </a:p>
        </p:txBody>
      </p:sp>
      <p:sp>
        <p:nvSpPr>
          <p:cNvPr id="38" name="Google Shape;38;p9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1 - SEMANA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44" name="Google Shape;44;p10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DOM e seletores de elementos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Eventos de teclado e mouse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Desafio</a:t>
            </a:r>
            <a:endParaRPr/>
          </a:p>
        </p:txBody>
      </p:sp>
      <p:sp>
        <p:nvSpPr>
          <p:cNvPr id="45" name="Google Shape;45;p10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DOM</a:t>
            </a:r>
            <a:endParaRPr/>
          </a:p>
        </p:txBody>
      </p:sp>
      <p:sp>
        <p:nvSpPr>
          <p:cNvPr id="52" name="Google Shape;52;p11"/>
          <p:cNvSpPr txBox="1"/>
          <p:nvPr>
            <p:ph idx="2" type="title"/>
          </p:nvPr>
        </p:nvSpPr>
        <p:spPr>
          <a:xfrm>
            <a:off x="422675" y="1013875"/>
            <a:ext cx="8298600" cy="125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 OBJECT MODEL significa que o navegador oferece para o javascript um </a:t>
            </a:r>
            <a:r>
              <a:rPr b="1" lang="pt-BR"/>
              <a:t>objeto que cont</a:t>
            </a:r>
            <a:r>
              <a:rPr b="1" lang="pt-BR"/>
              <a:t>ém todo o html da página </a:t>
            </a:r>
            <a:r>
              <a:rPr lang="pt-BR"/>
              <a:t>e nos permite </a:t>
            </a:r>
            <a:r>
              <a:rPr b="1" lang="pt-BR"/>
              <a:t>criar, modificar ou remover qualquer elemento HTML ou propriedade CSS.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Assim temos o objeto global</a:t>
            </a:r>
            <a:r>
              <a:rPr b="1" lang="pt-BR"/>
              <a:t> document </a:t>
            </a:r>
            <a:r>
              <a:rPr lang="pt-BR"/>
              <a:t>representando a página na totalidade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75" y="2334625"/>
            <a:ext cx="5871849" cy="22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ELEMENTOS</a:t>
            </a:r>
            <a:endParaRPr/>
          </a:p>
        </p:txBody>
      </p:sp>
      <p:sp>
        <p:nvSpPr>
          <p:cNvPr id="61" name="Google Shape;61;p12"/>
          <p:cNvSpPr txBox="1"/>
          <p:nvPr>
            <p:ph idx="2" type="title"/>
          </p:nvPr>
        </p:nvSpPr>
        <p:spPr>
          <a:xfrm>
            <a:off x="422700" y="1010825"/>
            <a:ext cx="8298600" cy="9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Podemos criar elementos via texto corrido ou via funç</a:t>
            </a:r>
            <a:r>
              <a:rPr lang="pt-BR"/>
              <a:t>ões </a:t>
            </a:r>
            <a:r>
              <a:rPr lang="pt-BR"/>
              <a:t>específicas, o primeiro modo é mais fácil mas deve ser usado com cautela para não tornar o código vulnerável a XSS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.innerHTML </a:t>
            </a:r>
            <a:r>
              <a:rPr lang="pt-BR"/>
              <a:t>é uma propriedade que todos os elementos HTML que aceitam tags dentro possuem</a:t>
            </a:r>
            <a:endParaRPr/>
          </a:p>
        </p:txBody>
      </p:sp>
      <p:sp>
        <p:nvSpPr>
          <p:cNvPr id="62" name="Google Shape;62;p12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1832325"/>
            <a:ext cx="6783662" cy="306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ELEMENTOS</a:t>
            </a:r>
            <a:endParaRPr/>
          </a:p>
        </p:txBody>
      </p:sp>
      <p:sp>
        <p:nvSpPr>
          <p:cNvPr id="70" name="Google Shape;70;p13"/>
          <p:cNvSpPr txBox="1"/>
          <p:nvPr>
            <p:ph idx="2" type="title"/>
          </p:nvPr>
        </p:nvSpPr>
        <p:spPr>
          <a:xfrm>
            <a:off x="422700" y="1010825"/>
            <a:ext cx="8298600" cy="9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Outra forma de criar elementos HTML </a:t>
            </a:r>
            <a:r>
              <a:rPr lang="pt-BR"/>
              <a:t>é através do </a:t>
            </a:r>
            <a:r>
              <a:rPr lang="pt-BR"/>
              <a:t>método</a:t>
            </a:r>
            <a:r>
              <a:rPr lang="pt-BR"/>
              <a:t> createElement que aceita o nome de qualquer tag em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Dessa forma ao invés do innerHTML que é propriedade, usamos o </a:t>
            </a:r>
            <a:r>
              <a:rPr lang="pt-BR"/>
              <a:t>método</a:t>
            </a:r>
            <a:r>
              <a:rPr lang="pt-BR"/>
              <a:t> append para receber o item</a:t>
            </a:r>
            <a:endParaRPr/>
          </a:p>
        </p:txBody>
      </p:sp>
      <p:sp>
        <p:nvSpPr>
          <p:cNvPr id="71" name="Google Shape;71;p13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2041450"/>
            <a:ext cx="6514412" cy="260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SELECIONANDO ELEMENTOS</a:t>
            </a:r>
            <a:endParaRPr/>
          </a:p>
        </p:txBody>
      </p:sp>
      <p:sp>
        <p:nvSpPr>
          <p:cNvPr id="79" name="Google Shape;79;p14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00" y="1199250"/>
            <a:ext cx="5804224" cy="23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SELECIONANDO ELEMENTOS</a:t>
            </a:r>
            <a:endParaRPr/>
          </a:p>
        </p:txBody>
      </p:sp>
      <p:sp>
        <p:nvSpPr>
          <p:cNvPr id="87" name="Google Shape;87;p15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96" y="1145524"/>
            <a:ext cx="5804224" cy="27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SELECIONANDO ELEMENTOS</a:t>
            </a:r>
            <a:endParaRPr/>
          </a:p>
        </p:txBody>
      </p:sp>
      <p:sp>
        <p:nvSpPr>
          <p:cNvPr id="95" name="Google Shape;95;p16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50" y="1145525"/>
            <a:ext cx="5966849" cy="33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SELECIONANDO ELEMENTOS</a:t>
            </a:r>
            <a:endParaRPr/>
          </a:p>
        </p:txBody>
      </p:sp>
      <p:sp>
        <p:nvSpPr>
          <p:cNvPr id="103" name="Google Shape;103;p17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1145525"/>
            <a:ext cx="5928849" cy="17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3209227" y="3446949"/>
            <a:ext cx="9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20:30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398521" y="3659375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20:45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ALTERANDO ELEMENTOS</a:t>
            </a:r>
            <a:endParaRPr/>
          </a:p>
        </p:txBody>
      </p:sp>
      <p:sp>
        <p:nvSpPr>
          <p:cNvPr id="117" name="Google Shape;117;p19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75" y="1145525"/>
            <a:ext cx="6240514" cy="3401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129" name="Google Shape;129;p21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DOM e seletores de elementos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Eventos de teclado e mouse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Desafio</a:t>
            </a:r>
            <a:endParaRPr/>
          </a:p>
        </p:txBody>
      </p:sp>
      <p:sp>
        <p:nvSpPr>
          <p:cNvPr id="130" name="Google Shape;130;p21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EVENTOS</a:t>
            </a:r>
            <a:endParaRPr/>
          </a:p>
        </p:txBody>
      </p:sp>
      <p:sp>
        <p:nvSpPr>
          <p:cNvPr id="137" name="Google Shape;137;p22"/>
          <p:cNvSpPr txBox="1"/>
          <p:nvPr>
            <p:ph idx="2" type="title"/>
          </p:nvPr>
        </p:nvSpPr>
        <p:spPr>
          <a:xfrm>
            <a:off x="422675" y="1013875"/>
            <a:ext cx="8298600" cy="7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Eventos s</a:t>
            </a:r>
            <a:r>
              <a:rPr lang="pt-BR"/>
              <a:t>ão ações que acontecem na página e nos permite reagir a elas.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principais são Clique, movimentação do mouse e digitação.</a:t>
            </a:r>
            <a:endParaRPr/>
          </a:p>
        </p:txBody>
      </p:sp>
      <p:sp>
        <p:nvSpPr>
          <p:cNvPr id="138" name="Google Shape;138;p22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1760875"/>
            <a:ext cx="5582259" cy="278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EVENTOS</a:t>
            </a:r>
            <a:endParaRPr/>
          </a:p>
        </p:txBody>
      </p:sp>
      <p:sp>
        <p:nvSpPr>
          <p:cNvPr id="146" name="Google Shape;146;p23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25" y="1026900"/>
            <a:ext cx="6936923" cy="3401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EVENTOS</a:t>
            </a:r>
            <a:endParaRPr/>
          </a:p>
        </p:txBody>
      </p:sp>
      <p:sp>
        <p:nvSpPr>
          <p:cNvPr id="154" name="Google Shape;154;p24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00" y="1145525"/>
            <a:ext cx="5522824" cy="14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/>
        </p:nvSpPr>
        <p:spPr>
          <a:xfrm>
            <a:off x="3209227" y="3446949"/>
            <a:ext cx="9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20:30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3398521" y="3659375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20:45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ÁTICA</a:t>
            </a:r>
            <a:endParaRPr/>
          </a:p>
        </p:txBody>
      </p:sp>
      <p:sp>
        <p:nvSpPr>
          <p:cNvPr id="168" name="Google Shape;168;p26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179" name="Google Shape;179;p28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DOM e seletores de elementos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Eventos de teclado e mouse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Desafio</a:t>
            </a:r>
            <a:endParaRPr/>
          </a:p>
        </p:txBody>
      </p:sp>
      <p:sp>
        <p:nvSpPr>
          <p:cNvPr id="180" name="Google Shape;180;p28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</a:t>
            </a:r>
            <a:endParaRPr/>
          </a:p>
        </p:txBody>
      </p:sp>
      <p:sp>
        <p:nvSpPr>
          <p:cNvPr id="187" name="Google Shape;187;p29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/>
        </p:nvSpPr>
        <p:spPr>
          <a:xfrm>
            <a:off x="739150" y="705650"/>
            <a:ext cx="34212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78C043"/>
                </a:solidFill>
                <a:latin typeface="Lexend"/>
                <a:ea typeface="Lexend"/>
                <a:cs typeface="Lexend"/>
                <a:sym typeface="Lexend"/>
              </a:rPr>
              <a:t>AVALIAÇÃO DOCENTE</a:t>
            </a:r>
            <a:endParaRPr b="1" sz="1200">
              <a:solidFill>
                <a:srgbClr val="78C04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O que você está achando das minhas aulas neste conteúdo?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Clique </a:t>
            </a:r>
            <a:r>
              <a:rPr lang="pt-BR" sz="1700" u="sng">
                <a:solidFill>
                  <a:srgbClr val="78C043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 ou escaneie o QRCode ao lado para avaliar minha aula.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Sinta-se à vontade para fornecer uma avaliação sempre que achar necessário. 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SCTEC] Tema de Aul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