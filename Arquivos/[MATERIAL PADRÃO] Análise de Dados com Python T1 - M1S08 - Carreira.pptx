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Lexend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Lexend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OpenSans-regular.fntdata"/><Relationship Id="rId23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cff4846b3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cff4846b3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ff4846b3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cff4846b3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ff4846b3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ff4846b3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d2842d29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d2842d29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d2842d29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d2842d29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d2842d29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d2842d29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ff4846b3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ff4846b3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2842d29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2842d29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2842d29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2842d29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2842d29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2842d2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ff4846b3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ff4846b3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f4846b3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ff4846b3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ção">
  <p:cSld name="CUSTOM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 title="Screenshot 2026-03-13 at 17.47.5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400" y="-20475"/>
            <a:ext cx="9224801" cy="518444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type="title"/>
          </p:nvPr>
        </p:nvSpPr>
        <p:spPr>
          <a:xfrm>
            <a:off x="1872750" y="2494075"/>
            <a:ext cx="5398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1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2" type="title"/>
          </p:nvPr>
        </p:nvSpPr>
        <p:spPr>
          <a:xfrm>
            <a:off x="1221000" y="3663775"/>
            <a:ext cx="670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600"/>
              <a:buFont typeface="Roboto"/>
              <a:buNone/>
              <a:defRPr sz="16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 (Modo Claro)">
  <p:cSld name="CUSTOM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 title="Screenshot 2026-03-13 at 17.49.0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850" y="-25225"/>
            <a:ext cx="9225677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2400"/>
              <a:buFont typeface="Roboto"/>
              <a:buNone/>
              <a:defRPr b="1" sz="24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 (Modo Escuro)">
  <p:cSld name="CUSTOM_2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Screenshot 2026-03-13 at 17.48.4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8850" y="-25225"/>
            <a:ext cx="9241702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2400"/>
              <a:buFont typeface="Roboto"/>
              <a:buNone/>
              <a:defRPr b="1" sz="24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title="Screenshot 2026-03-13 at 17.49.48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400" y="-20475"/>
            <a:ext cx="9224801" cy="518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alização, Execução e Apoio">
  <p:cSld name="CUSTOM_4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" title="Screenshot 2026-03-13 at 17.50.0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400" y="-20475"/>
            <a:ext cx="9224801" cy="518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valo de Aula">
  <p:cSld name="CUSTOM_5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title="Screenshot 2026-03-13 at 17.49.0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850" y="-25225"/>
            <a:ext cx="9225677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/>
          <p:nvPr/>
        </p:nvSpPr>
        <p:spPr>
          <a:xfrm>
            <a:off x="971888" y="951750"/>
            <a:ext cx="3240000" cy="3240000"/>
          </a:xfrm>
          <a:prstGeom prst="rect">
            <a:avLst/>
          </a:prstGeom>
          <a:noFill/>
          <a:ln cap="flat" cmpd="sng" w="28575">
            <a:solidFill>
              <a:srgbClr val="78C04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80000" lIns="90000" spcFirstLastPara="1" rIns="90000" wrap="square" tIns="18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INTERVALO!</a:t>
            </a:r>
            <a:br>
              <a:rPr lang="pt-BR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pt-BR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Finalizamos o nosso primeiro período de hoje. Que tal descansar um pouco?!</a:t>
            </a:r>
            <a:br>
              <a:rPr lang="pt-BR" sz="1800">
                <a:latin typeface="Roboto"/>
                <a:ea typeface="Roboto"/>
                <a:cs typeface="Roboto"/>
                <a:sym typeface="Roboto"/>
              </a:rPr>
            </a:br>
            <a:br>
              <a:rPr lang="pt-BR" sz="180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Nos vemos em 15 minutos.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Início:		</a:t>
            </a:r>
            <a:br>
              <a:rPr b="1" lang="pt-BR">
                <a:latin typeface="Roboto"/>
                <a:ea typeface="Roboto"/>
                <a:cs typeface="Roboto"/>
                <a:sym typeface="Roboto"/>
              </a:rPr>
            </a:br>
            <a:r>
              <a:rPr b="1" lang="pt-BR">
                <a:latin typeface="Roboto"/>
                <a:ea typeface="Roboto"/>
                <a:cs typeface="Roboto"/>
                <a:sym typeface="Roboto"/>
              </a:rPr>
              <a:t>Retorno: 	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	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" name="Google Shape;2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2063" y="951750"/>
            <a:ext cx="3240000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visos">
  <p:cSld name="CUSTOM_5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8" title="Screenshot 2026-03-13 at 17.48.4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8850" y="-25225"/>
            <a:ext cx="9241702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/>
          <p:nvPr/>
        </p:nvSpPr>
        <p:spPr>
          <a:xfrm>
            <a:off x="4885250" y="591750"/>
            <a:ext cx="3600000" cy="3960000"/>
          </a:xfrm>
          <a:prstGeom prst="roundRect">
            <a:avLst>
              <a:gd fmla="val 698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21540000" dist="19050">
              <a:srgbClr val="000000">
                <a:alpha val="64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658750" y="591750"/>
            <a:ext cx="3600000" cy="3960000"/>
          </a:xfrm>
          <a:prstGeom prst="roundRect">
            <a:avLst>
              <a:gd fmla="val 698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21540000" dist="19050">
              <a:srgbClr val="000000">
                <a:alpha val="64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1872750" y="2955940"/>
            <a:ext cx="53985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ELEVATOR</a:t>
            </a:r>
            <a:r>
              <a:rPr lang="pt-BR"/>
              <a:t> PITCH </a:t>
            </a:r>
            <a:endParaRPr/>
          </a:p>
        </p:txBody>
      </p:sp>
      <p:sp>
        <p:nvSpPr>
          <p:cNvPr id="38" name="Google Shape;38;p9"/>
          <p:cNvSpPr txBox="1"/>
          <p:nvPr>
            <p:ph idx="2" type="title"/>
          </p:nvPr>
        </p:nvSpPr>
        <p:spPr>
          <a:xfrm>
            <a:off x="1221000" y="3663775"/>
            <a:ext cx="6702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MÓDULO 1 - SEMANA 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2" type="title"/>
          </p:nvPr>
        </p:nvSpPr>
        <p:spPr>
          <a:xfrm>
            <a:off x="422700" y="683660"/>
            <a:ext cx="8298600" cy="3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500"/>
              <a:buChar char="●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Câmeras Abertas: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Conexão e energia.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500"/>
              <a:buChar char="●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Participação Ativa: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chat é sua voz; tragam dúvidas e participem das dinâmicas.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500"/>
              <a:buChar char="●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Espaço Seguro: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Ambiente de aprendizado sem julgamentos.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500"/>
              <a:buChar char="●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Momento é Seu: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Desconecte-se de notificações; você é o dono da sua jornada.</a:t>
            </a:r>
            <a:endParaRPr/>
          </a:p>
        </p:txBody>
      </p:sp>
      <p:sp>
        <p:nvSpPr>
          <p:cNvPr id="44" name="Google Shape;44;p10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" name="Google Shape;46;p10"/>
          <p:cNvSpPr txBox="1"/>
          <p:nvPr/>
        </p:nvSpPr>
        <p:spPr>
          <a:xfrm>
            <a:off x="0" y="839755"/>
            <a:ext cx="872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COMBINADOS DA NOSSA JORNADA </a:t>
            </a:r>
            <a:endParaRPr b="1" sz="2400">
              <a:solidFill>
                <a:srgbClr val="78C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22688" y="1098241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onde surgiu esse </a:t>
            </a:r>
            <a:br>
              <a:rPr lang="pt-BR"/>
            </a:br>
            <a:r>
              <a:rPr lang="pt-BR"/>
              <a:t>conceito? </a:t>
            </a:r>
            <a:endParaRPr/>
          </a:p>
        </p:txBody>
      </p:sp>
      <p:sp>
        <p:nvSpPr>
          <p:cNvPr id="52" name="Google Shape;52;p11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" name="Google Shape;54;p11"/>
          <p:cNvSpPr txBox="1"/>
          <p:nvPr>
            <p:ph type="title"/>
          </p:nvPr>
        </p:nvSpPr>
        <p:spPr>
          <a:xfrm>
            <a:off x="449118" y="2321344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que ele serve? </a:t>
            </a:r>
            <a:endParaRPr/>
          </a:p>
        </p:txBody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422663" y="3565446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Onde é utilizado? </a:t>
            </a:r>
            <a:endParaRPr/>
          </a:p>
        </p:txBody>
      </p:sp>
      <p:pic>
        <p:nvPicPr>
          <p:cNvPr id="56" name="Google Shape;56;p11" title="ChatGPT Image 1 de jun. de 2026, 08_12_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2625" y="661325"/>
            <a:ext cx="5275100" cy="3924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422688" y="825321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DISCUSSÃO PARA REFLEXÃO </a:t>
            </a:r>
            <a:endParaRPr/>
          </a:p>
        </p:txBody>
      </p:sp>
      <p:sp>
        <p:nvSpPr>
          <p:cNvPr id="62" name="Google Shape;62;p12"/>
          <p:cNvSpPr txBox="1"/>
          <p:nvPr>
            <p:ph idx="2" type="title"/>
          </p:nvPr>
        </p:nvSpPr>
        <p:spPr>
          <a:xfrm>
            <a:off x="527669" y="1990315"/>
            <a:ext cx="8298600" cy="287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 alguém importante do mercado perguntasse agora: </a:t>
            </a:r>
            <a:b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‘Então, me fale sobre você profissionalmente…’</a:t>
            </a:r>
            <a:b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Você conseguiria responder com clareza?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br>
              <a:rPr lang="pt-BR"/>
            </a:br>
            <a:endParaRPr/>
          </a:p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422688" y="657370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Debate de Perspectivas - ESPECIALISTA X GENERALISTA</a:t>
            </a:r>
            <a:endParaRPr/>
          </a:p>
        </p:txBody>
      </p:sp>
      <p:sp>
        <p:nvSpPr>
          <p:cNvPr id="69" name="Google Shape;69;p13"/>
          <p:cNvSpPr txBox="1"/>
          <p:nvPr>
            <p:ph idx="2" type="title"/>
          </p:nvPr>
        </p:nvSpPr>
        <p:spPr>
          <a:xfrm>
            <a:off x="422700" y="1549462"/>
            <a:ext cx="8298600" cy="306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Tese A — O especialista focado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“No futuro, a profundidade vencerá a amplitude. A melhor forma de se desenvolver é se tornar um verdadeiro especialista em uma área específica, buscando certificações formais, cursos estruturados e conhecimento profundo. A segurança e o valor estão em ser o melhor na sua área.”</a:t>
            </a:r>
            <a:endParaRPr b="1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Tese B — O generalista ágil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“No futuro, a adaptabilidade vencerá a profundidade. A melhor forma de se desenvolver é ser um aprendiz ágil, adquirindo um amplo leque de habilidades diversas (técnicas e comportamentais) através de projetos, aprendizado informal e networking. O valor está na capacidade de conectar pontos e se adaptar rapidamente.”</a:t>
            </a:r>
            <a:endParaRPr b="1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2" type="title"/>
          </p:nvPr>
        </p:nvSpPr>
        <p:spPr>
          <a:xfrm>
            <a:off x="401725" y="-46060"/>
            <a:ext cx="8298600" cy="40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b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QUAL PERFIL FAZ MAIS SENTIDO PARA VOCÊS HOJE?</a:t>
            </a:r>
            <a:endParaRPr b="1" sz="2400" u="sng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Especialista?</a:t>
            </a:r>
            <a:endParaRPr b="1" sz="2400" u="sng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Generalista?</a:t>
            </a:r>
            <a:endParaRPr b="1" sz="2400" u="sng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Equilíbrio entre os dois? </a:t>
            </a:r>
            <a:endParaRPr b="1" sz="2400" u="sng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br>
              <a:rPr lang="pt-BR"/>
            </a:br>
            <a:endParaRPr/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3" name="Google Shape;83;p15" title="ChatGPT Image 1 de jun. de 2026, 08_01_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025" y="289825"/>
            <a:ext cx="5740500" cy="459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22688" y="1014266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CONSTRUÇÃO PRÁTICA DO PITCH </a:t>
            </a:r>
            <a:endParaRPr/>
          </a:p>
        </p:txBody>
      </p:sp>
      <p:sp>
        <p:nvSpPr>
          <p:cNvPr id="89" name="Google Shape;89;p16"/>
          <p:cNvSpPr txBox="1"/>
          <p:nvPr>
            <p:ph idx="2" type="title"/>
          </p:nvPr>
        </p:nvSpPr>
        <p:spPr>
          <a:xfrm>
            <a:off x="527669" y="1465468"/>
            <a:ext cx="8298600" cy="287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b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pt-BR" sz="24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PRESENTE → VALOR → DIREÇÃO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br>
              <a:rPr lang="pt-BR"/>
            </a:br>
            <a:endParaRPr/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22688" y="678364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CONSTRUÇÃO PRÁTICA DO PITCH </a:t>
            </a:r>
            <a:endParaRPr/>
          </a:p>
        </p:txBody>
      </p:sp>
      <p:sp>
        <p:nvSpPr>
          <p:cNvPr id="96" name="Google Shape;96;p17"/>
          <p:cNvSpPr txBox="1"/>
          <p:nvPr>
            <p:ph idx="2" type="title"/>
          </p:nvPr>
        </p:nvSpPr>
        <p:spPr>
          <a:xfrm>
            <a:off x="527669" y="1465468"/>
            <a:ext cx="8298600" cy="287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br>
              <a:rPr b="1" lang="pt-BR" sz="20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b="1" lang="pt-BR" sz="20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b="1" lang="pt-BR" sz="2000" u="sng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Parte 1 </a:t>
            </a:r>
            <a:r>
              <a:rPr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— Quem sou hoje</a:t>
            </a:r>
            <a:br>
              <a:rPr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Aqui o participante contextualiza sua atuação atual.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Parte 2 </a:t>
            </a:r>
            <a:r>
              <a:rPr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— Qual valor gero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Momento de destacar habilidades, interesses e formas de contribuição.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Parte 3</a:t>
            </a:r>
            <a:r>
              <a:rPr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— Para onde estou indo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Espaço para demonstrar desenvolvimento, objetivos e evolução profissional.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br>
              <a:rPr lang="pt-BR"/>
            </a:b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idx="2" type="title"/>
          </p:nvPr>
        </p:nvSpPr>
        <p:spPr>
          <a:xfrm>
            <a:off x="422700" y="1040556"/>
            <a:ext cx="8298600" cy="3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“Seu futuro profissional não será definido apenas pela tecnologia que você domina, mas pela capacidade de aprender continuamente, se adaptar às mudanças e comunicar com clareza o valor que só você consegue gerar.” 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739150" y="705650"/>
            <a:ext cx="34212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pt-BR" sz="2800">
                <a:solidFill>
                  <a:srgbClr val="78C043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pt-BR" sz="2800">
                <a:solidFill>
                  <a:srgbClr val="78C043"/>
                </a:solidFill>
                <a:latin typeface="Lexend"/>
                <a:ea typeface="Lexend"/>
                <a:cs typeface="Lexend"/>
                <a:sym typeface="Lexend"/>
              </a:rPr>
              <a:t>PESQUISA DE SATISFAÇÃO </a:t>
            </a:r>
            <a:endParaRPr b="1" sz="2800">
              <a:solidFill>
                <a:srgbClr val="78C04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78C04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9" name="Google Shape;109;p19" title="Design sem nome 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401" y="1048524"/>
            <a:ext cx="3055550" cy="305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SCTEC] Tema de Aul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